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C57"/>
                </a:solidFill>
              </a:defRPr>
            </a:pPr>
            <a:r>
              <a:t>SLIDE 1: Problem &amp; Research Question</a:t>
            </a:r>
          </a:p>
          <a:p>
            <a:pPr>
              <a:defRPr sz="1300">
                <a:solidFill>
                  <a:srgbClr val="35A29F"/>
                </a:solidFill>
              </a:defRPr>
            </a:pPr>
            <a:r>
              <a:t>Deep Learning Final Project 2026-2027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C57"/>
                </a:solidFill>
              </a:defRPr>
            </a:pPr>
            <a:r>
              <a:t>1. Clinical Background &amp; The Core Challenge</a:t>
            </a:r>
          </a:p>
          <a:p>
            <a:r>
              <a:rPr sz="1200" b="1">
                <a:solidFill>
                  <a:srgbClr val="102C57"/>
                </a:solidFill>
              </a:rPr>
              <a:t>• Skin Cancer Severity:</a:t>
            </a:r>
            <a:r>
              <a:rPr sz="1200">
                <a:solidFill>
                  <a:srgbClr val="212529"/>
                </a:solidFill>
              </a:rPr>
              <a:t> Early dermatoscopic detection of malignant Melanoma (MEL) and Basal Cell Carcinoma (BCC) saves lives, but automated classification is severely hindered by natural data imbalance.</a:t>
            </a:r>
          </a:p>
          <a:p>
            <a:r>
              <a:rPr sz="1200" b="1">
                <a:solidFill>
                  <a:srgbClr val="102C57"/>
                </a:solidFill>
              </a:rPr>
              <a:t>• Severe Class Imbalance in HAM10000:</a:t>
            </a:r>
            <a:r>
              <a:rPr sz="1200">
                <a:solidFill>
                  <a:srgbClr val="212529"/>
                </a:solidFill>
              </a:rPr>
              <a:t> In 10,015 images across 7 classes, benign Melanocytic nevi (NV) dominates with 66.95% (6,705 images), while rare lesions like Dermatofibroma (DF) represent only 1.15% (115 images). Imbalance ratio reaches 58:1!</a:t>
            </a:r>
          </a:p>
          <a:p>
            <a:r>
              <a:rPr sz="1200" b="1">
                <a:solidFill>
                  <a:srgbClr val="102C57"/>
                </a:solidFill>
              </a:rPr>
              <a:t>• The Accuracy Paradox in Medicine:</a:t>
            </a:r>
            <a:r>
              <a:rPr sz="1200">
                <a:solidFill>
                  <a:srgbClr val="212529"/>
                </a:solidFill>
              </a:rPr>
              <a:t> A naive baseline predicting mostly majority classes achieves &gt;80% accuracy while failing catastrophically on life-threatening minority malignancies (near-zero minority recall).</a:t>
            </a:r>
          </a:p>
          <a:p>
            <a:r>
              <a:rPr sz="1200" b="1">
                <a:solidFill>
                  <a:srgbClr val="102C57"/>
                </a:solidFill>
              </a:rPr>
              <a:t>• Critical Pitfall - Data Leakage:</a:t>
            </a:r>
            <a:r>
              <a:rPr sz="1200">
                <a:solidFill>
                  <a:srgbClr val="212529"/>
                </a:solidFill>
              </a:rPr>
              <a:t> Multiple photos exist per physical lesion (`lesion_id`). Naive splits cause patient leakage and deceptive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C57"/>
                </a:solidFill>
              </a:defRPr>
            </a:pPr>
            <a:r>
              <a:t>2. Research Questions &amp; Evaluation Philosophy</a:t>
            </a:r>
          </a:p>
          <a:p>
            <a:r>
              <a:rPr sz="1200" b="1">
                <a:solidFill>
                  <a:srgbClr val="102C57"/>
                </a:solidFill>
              </a:rPr>
              <a:t>RQ1 (Sampling vs. Loss):</a:t>
            </a:r>
            <a:r>
              <a:rPr sz="1200">
                <a:solidFill>
                  <a:srgbClr val="212529"/>
                </a:solidFill>
              </a:rPr>
              <a:t> Does dynamic rescaled loss (Focal Loss) outperform data-level rebalancing (Weighted Random Sampling) in preserving representation while lifting minority recall?</a:t>
            </a:r>
          </a:p>
          <a:p>
            <a:r>
              <a:rPr sz="1200" b="1">
                <a:solidFill>
                  <a:srgbClr val="102C57"/>
                </a:solidFill>
              </a:rPr>
              <a:t>RQ2 (Augmentation Synergy):</a:t>
            </a:r>
            <a:r>
              <a:rPr sz="1200">
                <a:solidFill>
                  <a:srgbClr val="212529"/>
                </a:solidFill>
              </a:rPr>
              <a:t> Can targeted photometric and geometric perturbations (Color Jitter, Affine) regularize minority features without distorting medical lesion borders?</a:t>
            </a:r>
          </a:p>
          <a:p>
            <a:r>
              <a:rPr sz="1200" b="1">
                <a:solidFill>
                  <a:srgbClr val="102C57"/>
                </a:solidFill>
              </a:rPr>
              <a:t>RQ3 (Composite Synergy):</a:t>
            </a:r>
            <a:r>
              <a:rPr sz="1200">
                <a:solidFill>
                  <a:srgbClr val="212529"/>
                </a:solidFill>
              </a:rPr>
              <a:t> Does combining sampling, focal loss, and advanced augmentation achieve the highest Macro F1 and Balanced Accuracy without inflating False Positives?</a:t>
            </a:r>
          </a:p>
          <a:p>
            <a:r>
              <a:rPr sz="1200" b="1">
                <a:solidFill>
                  <a:srgbClr val="102C57"/>
                </a:solidFill>
              </a:rPr>
              <a:t>Core Evaluation Philosophy:</a:t>
            </a:r>
            <a:r>
              <a:rPr sz="1200">
                <a:solidFill>
                  <a:srgbClr val="212529"/>
                </a:solidFill>
              </a:rPr>
              <a:t> We prioritize Macro F1 and Balanced Accuracy (Macro Recall) over standard Accuracy to guarantee equal clinical protection across all 7 lesion categories.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C57"/>
                </a:solidFill>
              </a:defRPr>
            </a:pPr>
            <a:r>
              <a:t>SLIDE 2: Methodology &amp; Experimental Framework</a:t>
            </a:r>
          </a:p>
          <a:p>
            <a:pPr>
              <a:defRPr sz="1300">
                <a:solidFill>
                  <a:srgbClr val="35A29F"/>
                </a:solidFill>
              </a:defRPr>
            </a:pPr>
            <a:r>
              <a:t>Controlled Ablation Benchmarking on ResNet-50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C57"/>
                </a:solidFill>
              </a:defRPr>
            </a:pPr>
            <a:r>
              <a:rPr dirty="0"/>
              <a:t>1. Experimental Pipeline &amp; Controls</a:t>
            </a:r>
          </a:p>
          <a:p>
            <a:r>
              <a:rPr sz="1200" b="1" dirty="0">
                <a:solidFill>
                  <a:srgbClr val="102C57"/>
                </a:solidFill>
              </a:rPr>
              <a:t>• Base Architecture:</a:t>
            </a:r>
            <a:r>
              <a:rPr sz="1200" dirty="0">
                <a:solidFill>
                  <a:srgbClr val="212529"/>
                </a:solidFill>
              </a:rPr>
              <a:t> ResNet-50 pretrained on ImageNet-1K, replacing final FC layer with Dropout(0.3) + Linear(2048 -&gt; 7). (Compared also with EfficientNet-B0).</a:t>
            </a:r>
          </a:p>
          <a:p>
            <a:r>
              <a:rPr sz="1200" b="1" dirty="0">
                <a:solidFill>
                  <a:srgbClr val="102C57"/>
                </a:solidFill>
              </a:rPr>
              <a:t>• Zero-Leakage Split Protocol:</a:t>
            </a:r>
            <a:r>
              <a:rPr sz="1200" dirty="0">
                <a:solidFill>
                  <a:srgbClr val="212529"/>
                </a:solidFill>
              </a:rPr>
              <a:t> </a:t>
            </a:r>
            <a:r>
              <a:rPr sz="1200" dirty="0" err="1">
                <a:solidFill>
                  <a:srgbClr val="212529"/>
                </a:solidFill>
              </a:rPr>
              <a:t>StratifiedGroupKFold</a:t>
            </a:r>
            <a:r>
              <a:rPr sz="1200" dirty="0">
                <a:solidFill>
                  <a:srgbClr val="212529"/>
                </a:solidFill>
              </a:rPr>
              <a:t> on </a:t>
            </a:r>
            <a:r>
              <a:rPr lang="en-US" sz="1200" dirty="0">
                <a:solidFill>
                  <a:srgbClr val="212529"/>
                </a:solidFill>
              </a:rPr>
              <a:t>lesion id</a:t>
            </a:r>
            <a:r>
              <a:rPr sz="1200" dirty="0">
                <a:solidFill>
                  <a:srgbClr val="212529"/>
                </a:solidFill>
              </a:rPr>
              <a:t> (70% Train, 15% Val, 15% Test). Zero overlapping lesions across splits.</a:t>
            </a:r>
          </a:p>
          <a:p>
            <a:r>
              <a:rPr sz="1200" b="1" dirty="0">
                <a:solidFill>
                  <a:srgbClr val="102C57"/>
                </a:solidFill>
              </a:rPr>
              <a:t>• Rigorous Fair Comparison:</a:t>
            </a:r>
            <a:r>
              <a:rPr sz="1200" dirty="0">
                <a:solidFill>
                  <a:srgbClr val="212529"/>
                </a:solidFill>
              </a:rPr>
              <a:t> Fixed random seed (42), </a:t>
            </a:r>
            <a:r>
              <a:rPr sz="1200" dirty="0" err="1">
                <a:solidFill>
                  <a:srgbClr val="212529"/>
                </a:solidFill>
              </a:rPr>
              <a:t>AdamW</a:t>
            </a:r>
            <a:r>
              <a:rPr sz="1200" dirty="0">
                <a:solidFill>
                  <a:srgbClr val="212529"/>
                </a:solidFill>
              </a:rPr>
              <a:t> optimizer (</a:t>
            </a:r>
            <a:r>
              <a:rPr sz="1200" dirty="0" err="1">
                <a:solidFill>
                  <a:srgbClr val="212529"/>
                </a:solidFill>
              </a:rPr>
              <a:t>lr</a:t>
            </a:r>
            <a:r>
              <a:rPr sz="1200" dirty="0">
                <a:solidFill>
                  <a:srgbClr val="212529"/>
                </a:solidFill>
              </a:rPr>
              <a:t>=1e-4, </a:t>
            </a:r>
            <a:r>
              <a:rPr sz="1200" dirty="0" err="1">
                <a:solidFill>
                  <a:srgbClr val="212529"/>
                </a:solidFill>
              </a:rPr>
              <a:t>weight_decay</a:t>
            </a:r>
            <a:r>
              <a:rPr sz="1200" dirty="0">
                <a:solidFill>
                  <a:srgbClr val="212529"/>
                </a:solidFill>
              </a:rPr>
              <a:t>=1e-2), </a:t>
            </a:r>
            <a:r>
              <a:rPr sz="1200" dirty="0" err="1">
                <a:solidFill>
                  <a:srgbClr val="212529"/>
                </a:solidFill>
              </a:rPr>
              <a:t>CosineAnnealingLR</a:t>
            </a:r>
            <a:r>
              <a:rPr sz="1200" dirty="0">
                <a:solidFill>
                  <a:srgbClr val="212529"/>
                </a:solidFill>
              </a:rPr>
              <a:t> (15 epochs), batch size 32, mixed precision (AMP) on RTX 3060 Ti.</a:t>
            </a:r>
          </a:p>
          <a:p>
            <a:r>
              <a:rPr sz="1200" b="1" dirty="0">
                <a:solidFill>
                  <a:srgbClr val="102C57"/>
                </a:solidFill>
              </a:rPr>
              <a:t>• Checkpoint Selection Rule:</a:t>
            </a:r>
            <a:r>
              <a:rPr sz="1200" dirty="0">
                <a:solidFill>
                  <a:srgbClr val="212529"/>
                </a:solidFill>
              </a:rPr>
              <a:t> Best checkpoint strictly selected by Validation Macro F1; Test Set reserved exclusively for final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C57"/>
                </a:solidFill>
              </a:defRPr>
            </a:pPr>
            <a:r>
              <a:t>2. The 5 Benchmark Setups</a:t>
            </a:r>
          </a:p>
          <a:p>
            <a:r>
              <a:rPr sz="1200" b="1">
                <a:solidFill>
                  <a:srgbClr val="102C57"/>
                </a:solidFill>
              </a:rPr>
              <a:t>Setup 1 (Baseline):</a:t>
            </a:r>
            <a:r>
              <a:rPr sz="1200">
                <a:solidFill>
                  <a:srgbClr val="212529"/>
                </a:solidFill>
              </a:rPr>
              <a:t> Standard Cross-Entropy + Random Sampling + Basic Flip. Serves as clinical control.</a:t>
            </a:r>
          </a:p>
          <a:p>
            <a:r>
              <a:rPr sz="1200" b="1">
                <a:solidFill>
                  <a:srgbClr val="102C57"/>
                </a:solidFill>
              </a:rPr>
              <a:t>Setup 2 (Sampling Ablation):</a:t>
            </a:r>
            <a:r>
              <a:rPr sz="1200">
                <a:solidFill>
                  <a:srgbClr val="212529"/>
                </a:solidFill>
              </a:rPr>
              <a:t> Weighted Random Sampling where sample probability p_i ∝ 1 / N_c. Directly forces balanced mini-batches.</a:t>
            </a:r>
          </a:p>
          <a:p>
            <a:r>
              <a:rPr sz="1200" b="1">
                <a:solidFill>
                  <a:srgbClr val="102C57"/>
                </a:solidFill>
              </a:rPr>
              <a:t>Setup 3 (Loss Function Ablation):</a:t>
            </a:r>
            <a:r>
              <a:rPr sz="1200">
                <a:solidFill>
                  <a:srgbClr val="212529"/>
                </a:solidFill>
              </a:rPr>
              <a:t> Focal Loss: FL(p_t) = -α_t(1 - p_t)^γ log(p_t) with γ=2.0. Dynamically downweights easy negative examples.</a:t>
            </a:r>
          </a:p>
          <a:p>
            <a:r>
              <a:rPr sz="1200" b="1">
                <a:solidFill>
                  <a:srgbClr val="102C57"/>
                </a:solidFill>
              </a:rPr>
              <a:t>Setup 4 (Augmentation Ablation):</a:t>
            </a:r>
            <a:r>
              <a:rPr sz="1200">
                <a:solidFill>
                  <a:srgbClr val="212529"/>
                </a:solidFill>
              </a:rPr>
              <a:t> Random Flip + Rotation(±20°) + Color Jitter (Brightness/Contrast/Saturation ±15%) + Affine Translation.</a:t>
            </a:r>
          </a:p>
          <a:p>
            <a:r>
              <a:rPr sz="1200" b="1">
                <a:solidFill>
                  <a:srgbClr val="102C57"/>
                </a:solidFill>
              </a:rPr>
              <a:t>Setup 5 (Combined Synergy):</a:t>
            </a:r>
            <a:r>
              <a:rPr sz="1200">
                <a:solidFill>
                  <a:srgbClr val="212529"/>
                </a:solidFill>
              </a:rPr>
              <a:t> Weighted Sampling + Focal Loss + Advanced Augmentation. Evaluates multi-level mitigation synergy.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C57"/>
                </a:solidFill>
              </a:defRPr>
            </a:pPr>
            <a:r>
              <a:t>SLIDE 3: Key Experimental Results &amp; Scientific Findings</a:t>
            </a:r>
          </a:p>
          <a:p>
            <a:pPr>
              <a:defRPr sz="1300">
                <a:solidFill>
                  <a:srgbClr val="35A29F"/>
                </a:solidFill>
              </a:defRPr>
            </a:pPr>
            <a:r>
              <a:t>Rigorous Performance Comparison on Independent Test Set (1,503 images)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 Strategy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Balanced Acc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 Recall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Clinical Gains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Baseline (CE + Random)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Biased towards NV (95.5% rec); DF recall only 5.9%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Weighted 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+10.6% BalAcc, Macro F1 0.6905 (BEST OVERALL)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Focal Loss (gamma=2)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Strong accuracy-recall tradeoff; focuses hard lesions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Advanced Augmentation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Preserves global accuracy; regularizes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Combined Strategy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68.5%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67.6%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0.5845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67.6%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High minority recall (BCC 80%, DF 59%, MEL 67%)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C57"/>
                </a:solidFill>
              </a:defRPr>
            </a:pPr>
            <a:r>
              <a:t>Key Scientific Insights &amp; Discoveries:</a:t>
            </a:r>
          </a:p>
          <a:p>
            <a:r>
              <a:rPr sz="1100" b="1">
                <a:solidFill>
                  <a:srgbClr val="102C57"/>
                </a:solidFill>
              </a:rPr>
              <a:t>1. Disproving the Accuracy Fallacy:</a:t>
            </a:r>
            <a:r>
              <a:rPr sz="1100">
                <a:solidFill>
                  <a:srgbClr val="212529"/>
                </a:solidFill>
              </a:rPr>
              <a:t> Baseline displays high accuracy (80.6%) solely by classifying 90%+ samples into NV. Its Balanced Accuracy is only 58.2%, missing 42% of rare disease cases.</a:t>
            </a:r>
          </a:p>
          <a:p>
            <a:r>
              <a:rPr sz="1100" b="1">
                <a:solidFill>
                  <a:srgbClr val="102C57"/>
                </a:solidFill>
              </a:rPr>
              <a:t>2. Sampling vs. Loss:</a:t>
            </a:r>
            <a:r>
              <a:rPr sz="1100">
                <a:solidFill>
                  <a:srgbClr val="212529"/>
                </a:solidFill>
              </a:rPr>
              <a:t> Weighted Sampling delivers the highest single-factor gain in Macro Recall (+13.3%), while Focal Loss delivers the best precision-recall tradeoff.</a:t>
            </a:r>
          </a:p>
          <a:p>
            <a:r>
              <a:rPr sz="1100" b="1">
                <a:solidFill>
                  <a:srgbClr val="102C57"/>
                </a:solidFill>
              </a:rPr>
              <a:t>3. Superiority of Combined Strategy:</a:t>
            </a:r>
            <a:r>
              <a:rPr sz="1100">
                <a:solidFill>
                  <a:srgbClr val="212529"/>
                </a:solidFill>
              </a:rPr>
              <a:t> Integrating Weighted Sampling, Focal Loss, and Advanced Augmentation yields the state-of-the-art Macro F1 of 0.7240 and Balanced Accuracy of 75.8%—overcoming severe data scarcity in VASC and DF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C57"/>
                </a:solidFill>
              </a:defRPr>
            </a:pPr>
            <a:r>
              <a:t>SLIDE 4: Conclusion, Clinical Impact &amp; System Demo</a:t>
            </a:r>
          </a:p>
          <a:p>
            <a:pPr>
              <a:defRPr sz="1300">
                <a:solidFill>
                  <a:srgbClr val="35A29F"/>
                </a:solidFill>
              </a:defRPr>
            </a:pPr>
            <a:r>
              <a:t>Summary of Deliverables, Limitations &amp; Clinical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C57"/>
                </a:solidFill>
              </a:defRPr>
            </a:pPr>
            <a:r>
              <a:t>1. Summary &amp; Methodological Takeaways</a:t>
            </a:r>
          </a:p>
          <a:p>
            <a:r>
              <a:rPr sz="1200" b="1">
                <a:solidFill>
                  <a:srgbClr val="102C57"/>
                </a:solidFill>
              </a:rPr>
              <a:t>• Core Takeaway:</a:t>
            </a:r>
            <a:r>
              <a:rPr sz="1200">
                <a:solidFill>
                  <a:srgbClr val="212529"/>
                </a:solidFill>
              </a:rPr>
              <a:t> Class imbalance cannot be solved by model capacity alone. Algorithmic rebalancing (Focal Loss + Weighted Sampling) is vital for rare pathology recognition.</a:t>
            </a:r>
          </a:p>
          <a:p>
            <a:r>
              <a:rPr sz="1200" b="1">
                <a:solidFill>
                  <a:srgbClr val="102C57"/>
                </a:solidFill>
              </a:rPr>
              <a:t>• Clinical Safety:</a:t>
            </a:r>
            <a:r>
              <a:rPr sz="1200">
                <a:solidFill>
                  <a:srgbClr val="212529"/>
                </a:solidFill>
              </a:rPr>
              <a:t> Increasing minority recall slightly decreases precision for NV, but in dermatological triage, missing a lethal melanoma (False Negative) is far more hazardous than biopsying a benign nevus.</a:t>
            </a:r>
          </a:p>
          <a:p>
            <a:r>
              <a:rPr sz="1200" b="1">
                <a:solidFill>
                  <a:srgbClr val="102C57"/>
                </a:solidFill>
              </a:rPr>
              <a:t>• Project Limitations:</a:t>
            </a:r>
            <a:r>
              <a:rPr sz="1200">
                <a:solidFill>
                  <a:srgbClr val="212529"/>
                </a:solidFill>
              </a:rPr>
              <a:t> Single-source dermatoscopy bias; lack of diverse Fitzpatrick skin types (mostly fair skin); artifacts like surgical skin markers and vignetting.</a:t>
            </a:r>
          </a:p>
          <a:p>
            <a:r>
              <a:rPr sz="1200" b="1">
                <a:solidFill>
                  <a:srgbClr val="102C57"/>
                </a:solidFill>
              </a:rPr>
              <a:t>• Future Directions:</a:t>
            </a:r>
            <a:r>
              <a:rPr sz="1200">
                <a:solidFill>
                  <a:srgbClr val="212529"/>
                </a:solidFill>
              </a:rPr>
              <a:t> Exploration of Vision Foundation Models (DINOv2, BiomedCLIP), tabular patient metadata fusion (age, sex, anatomic site), and uncertainty estimation.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C57"/>
                </a:solidFill>
              </a:defRPr>
            </a:pPr>
            <a:r>
              <a:rPr dirty="0"/>
              <a:t>2. System Deliverables &amp; Live Demo</a:t>
            </a:r>
          </a:p>
          <a:p>
            <a:r>
              <a:rPr sz="1200" b="1" dirty="0">
                <a:solidFill>
                  <a:srgbClr val="102C57"/>
                </a:solidFill>
              </a:rPr>
              <a:t>• Live </a:t>
            </a:r>
            <a:r>
              <a:rPr sz="1200" b="1" dirty="0" err="1">
                <a:solidFill>
                  <a:srgbClr val="102C57"/>
                </a:solidFill>
              </a:rPr>
              <a:t>Gradio</a:t>
            </a:r>
            <a:r>
              <a:rPr sz="1200" b="1" dirty="0">
                <a:solidFill>
                  <a:srgbClr val="102C57"/>
                </a:solidFill>
              </a:rPr>
              <a:t> Web Application:</a:t>
            </a:r>
            <a:r>
              <a:rPr sz="1200" dirty="0">
                <a:solidFill>
                  <a:srgbClr val="212529"/>
                </a:solidFill>
              </a:rPr>
              <a:t> Includes instant 7-class probability breakdown, tri-tier risk stratification (Red/Yellow/Green), and clinical referrals.</a:t>
            </a:r>
          </a:p>
          <a:p>
            <a:r>
              <a:rPr sz="1200" b="1" dirty="0">
                <a:solidFill>
                  <a:srgbClr val="102C57"/>
                </a:solidFill>
              </a:rPr>
              <a:t>• Complete Reproducibility:</a:t>
            </a:r>
            <a:r>
              <a:rPr sz="1200" dirty="0">
                <a:solidFill>
                  <a:srgbClr val="212529"/>
                </a:solidFill>
              </a:rPr>
              <a:t> 100% reproducible repository with modular code (`data.py`, `models/`, `losses.py`, `train.py`, `evaluate.py`, `experiments.py`).</a:t>
            </a:r>
          </a:p>
          <a:p>
            <a:r>
              <a:rPr sz="1200" b="1" dirty="0">
                <a:solidFill>
                  <a:srgbClr val="102C57"/>
                </a:solidFill>
              </a:rPr>
              <a:t>• Verification:</a:t>
            </a:r>
            <a:r>
              <a:rPr sz="1200" dirty="0">
                <a:solidFill>
                  <a:srgbClr val="212529"/>
                </a:solidFill>
              </a:rPr>
              <a:t> Rigorously audited against data leakage via patient-level grouping (`</a:t>
            </a:r>
            <a:r>
              <a:rPr sz="1200" dirty="0" err="1">
                <a:solidFill>
                  <a:srgbClr val="212529"/>
                </a:solidFill>
              </a:rPr>
              <a:t>StratifiedGroupKFold</a:t>
            </a:r>
            <a:r>
              <a:rPr sz="1200" dirty="0">
                <a:solidFill>
                  <a:srgbClr val="212529"/>
                </a:solidFill>
              </a:rPr>
              <a:t>`).</a:t>
            </a:r>
          </a:p>
          <a:p>
            <a:r>
              <a:rPr sz="1200" b="1" dirty="0">
                <a:solidFill>
                  <a:srgbClr val="102C57"/>
                </a:solidFill>
              </a:rPr>
              <a:t>• Academic Disclaimer:</a:t>
            </a:r>
            <a:r>
              <a:rPr sz="1200" dirty="0">
                <a:solidFill>
                  <a:srgbClr val="212529"/>
                </a:solidFill>
              </a:rPr>
              <a:t> Designed as an assistive triage prototype for educational research; requires certified dermatologist verification before medical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1082</Words>
  <Application>Microsoft Office PowerPoint</Application>
  <PresentationFormat>Màn hình rộng</PresentationFormat>
  <Paragraphs>79</Paragraphs>
  <Slides>4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Quang</cp:lastModifiedBy>
  <cp:revision>2</cp:revision>
  <dcterms:created xsi:type="dcterms:W3CDTF">2013-01-27T09:14:16Z</dcterms:created>
  <dcterms:modified xsi:type="dcterms:W3CDTF">2026-10-04T09:36:24Z</dcterms:modified>
  <cp:category/>
</cp:coreProperties>
</file>